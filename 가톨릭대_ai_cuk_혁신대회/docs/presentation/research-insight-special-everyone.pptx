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80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8a9cae6da90c4a22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767df28745cf4220" Type="http://schemas.openxmlformats.org/officeDocument/2006/relationships/slideLayout" Target="../slideLayouts/slideLayout1.xml"  /><Relationship Id="Ra4c27776ffd0421c" Type="http://schemas.openxmlformats.org/officeDocument/2006/relationships/theme" Target="../theme/theme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7df28745cf42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685800"/>
            <a:ext cx="10858500" cy="5486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23950" y="1123950"/>
            <a:ext cx="2619375" cy="285750"/>
          </a:xfrm>
          <a:prstGeom prst="rect">
            <a:avLst/>
          </a:prstGeom>
          <a:solidFill>
            <a:srgbClr val="004b87">
              <a:alpha val="9410"/>
            </a:srgbClr>
          </a:solidFill>
          <a:ln w="9525">
            <a:solidFill>
              <a:srgbClr val="004b87">
                <a:alpha val="3333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1219200" y="1181100"/>
            <a:ext cx="2428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Required Portfolio 1 · Research Insight</a:t>
            </a:r>
            <a:endParaRPr sz="9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1123950" y="1676400"/>
            <a:ext cx="723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Special Everyone</a:t>
            </a:r>
            <a:endParaRPr sz="36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123950" y="24574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공유대학 장애학생 접근성 개선 UX 리서치</a:t>
            </a:r>
            <a:endParaRPr sz="18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1123950" y="3067050"/>
            <a:ext cx="7239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CU12 연합형 창업 캡스톤 모델 안에서 접근성 문제를 분석하고, AI 자막·사랑나누기 검수·OCR 자료 점검·확장 버튼 UI 개선안을 도출한 프로젝트</a:t>
            </a:r>
            <a:endParaRPr sz="13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458200" y="1162050"/>
            <a:ext cx="2190750" cy="3429000"/>
          </a:xfrm>
          <a:prstGeom prst="rect">
            <a:avLst/>
          </a:prstGeom>
          <a:solidFill>
            <a:srgbClr val="f8fafc"/>
          </a:solidFill>
          <a:ln w="9525">
            <a:solidFill>
              <a:srgbClr val="dde6f2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743950" y="15240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Project Type</a:t>
            </a:r>
            <a:endParaRPr sz="975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8743950" y="180975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UX Research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Service Planning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8743950" y="272415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Focus</a:t>
            </a:r>
            <a:endParaRPr sz="975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8743950" y="3009900"/>
            <a:ext cx="1619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Accessibility</a:t>
            </a:r>
            <a:endParaRPr sz="15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Insight</a:t>
            </a:r>
            <a:endParaRPr sz="15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Validation</a:t>
            </a:r>
            <a:endParaRPr sz="15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123950" y="51435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실제 대회 출품 및 발표 경험 기반</a:t>
            </a:r>
            <a:endParaRPr sz="1200" b="1">
              <a:solidFill>
                <a:srgbClr val="0f766e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61975"/>
            <a:ext cx="4000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81100" y="514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PROJECT CONTEXT</a:t>
            </a:r>
            <a:endParaRPr sz="112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838200"/>
            <a:ext cx="8191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공유대학은 강의 공유를 넘어 협업 참여까지 확장되어야 한다.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8580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12개 대학과 약 4만 명의 학생이 연결되는 메타버시티에서 접근성은 참여 조건이다.</a:t>
            </a:r>
            <a:endParaRPr sz="1275" b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800100" y="2571750"/>
            <a:ext cx="3143250" cy="2095500"/>
          </a:xfrm>
          <a:prstGeom prst="rect">
            <a:avLst/>
          </a:prstGeom>
          <a:solidFill>
            <a:srgbClr val="f8fafc"/>
          </a:solidFill>
          <a:ln w="9525">
            <a:solidFill>
              <a:srgbClr val="dde6f2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1066800" y="293370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12개 대학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085850" y="354330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학교 간 경계를 넘어선 공유 학습 구조</a:t>
            </a:r>
            <a:endParaRPr sz="13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4343400" y="2571750"/>
            <a:ext cx="3143250" cy="2095500"/>
          </a:xfrm>
          <a:prstGeom prst="rect">
            <a:avLst/>
          </a:prstGeom>
          <a:solidFill>
            <a:srgbClr val="eef6ff"/>
          </a:solidFill>
          <a:ln w="9525">
            <a:solidFill>
              <a:srgbClr val="dde6f2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4610100" y="293370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4만 명 학생</a:t>
            </a:r>
            <a:endParaRPr sz="25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4629150" y="354330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다양한 사용자 조건을 고려해야 하는 규모</a:t>
            </a:r>
            <a:endParaRPr sz="13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7886700" y="2571750"/>
            <a:ext cx="3143250" cy="2095500"/>
          </a:xfrm>
          <a:prstGeom prst="rect">
            <a:avLst/>
          </a:prstGeom>
          <a:solidFill>
            <a:srgbClr val="f8fafc"/>
          </a:solidFill>
          <a:ln w="9525">
            <a:solidFill>
              <a:srgbClr val="dde6f2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8153400" y="2933700"/>
            <a:ext cx="2381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연합형 캡스톤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8172450" y="3543300"/>
            <a:ext cx="247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강의 수강에서 팀 협업과 창업경진대회로 확장</a:t>
            </a:r>
            <a:endParaRPr sz="13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800100" y="52197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리서치 질문</a:t>
            </a:r>
            <a:endParaRPr sz="1125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2000250" y="5162550"/>
            <a:ext cx="866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장애학생이 공유대학 플랫폼에서 강의를 듣고, 팀을 찾고, 창업 캡스톤에 참여하는 과정의 접근성 장벽을 어떻게 줄일 수 있을까?</a:t>
            </a:r>
            <a:endParaRPr sz="16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11239500" y="628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sz="900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61975"/>
            <a:ext cx="4000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81100" y="514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PROBLEM DEFINITION</a:t>
            </a:r>
            <a:endParaRPr sz="112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838200"/>
            <a:ext cx="8191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접근성 문제는 강의 선택 전부터 팀 참여까지 이어진다.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8580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단일 기능 문제가 아니라 학습 여정 전체의 예측 가능성과 참여권 문제로 정의했다.</a:t>
            </a:r>
            <a:endParaRPr sz="1275" b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66750" y="2209800"/>
            <a:ext cx="10858500" cy="457200"/>
          </a:xfrm>
          <a:prstGeom prst="rect">
            <a:avLst/>
          </a:prstGeom>
          <a:solidFill>
            <a:srgbClr val="0a2540"/>
          </a:solidFill>
          <a:ln w="9525">
            <a:solidFill>
              <a:srgbClr val="0a2540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57250" y="234315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  <a:endParaRPr sz="105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3524250" y="234315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관찰된 상황</a:t>
            </a:r>
            <a:endParaRPr sz="105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477250" y="234315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영향</a:t>
            </a:r>
            <a:endParaRPr sz="105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666750" y="2667000"/>
            <a:ext cx="10858500" cy="6286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857250" y="28384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수강 전 정보 부족</a:t>
            </a:r>
            <a:endParaRPr sz="12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3524250" y="28003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자막, OCR 자료, 키보드 조작 가능 여부를 알기 어려움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8477250" y="28384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rPr>
              <a:t>수강 선택권 제한</a:t>
            </a:r>
            <a:endParaRPr sz="1200" b="1">
              <a:solidFill>
                <a:srgbClr val="e11d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666750" y="3295650"/>
            <a:ext cx="10858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857250" y="34671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자막 품질 한계</a:t>
            </a:r>
            <a:endParaRPr sz="12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3524250" y="34290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AI 자동 자막의 전문용어·화자 구분 오류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8477250" y="34671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rPr>
              <a:t>강의 이해도 저하</a:t>
            </a:r>
            <a:endParaRPr sz="1200" b="1">
              <a:solidFill>
                <a:srgbClr val="e11d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666750" y="3924300"/>
            <a:ext cx="10858500" cy="6286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857250" y="40957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자료 접근성 부족</a:t>
            </a:r>
            <a:endParaRPr sz="12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3524250" y="40576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이미지형 PDF와 대체 텍스트 부재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8477250" y="4095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rPr>
              <a:t>스크린리더 활용 어려움</a:t>
            </a:r>
            <a:endParaRPr sz="1200" b="1">
              <a:solidFill>
                <a:srgbClr val="e11d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666750" y="4552950"/>
            <a:ext cx="108585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857250" y="4724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조작 부담</a:t>
            </a:r>
            <a:endParaRPr sz="12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3524250" y="46863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작은 버튼과 복잡한 메뉴 구조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8477250" y="47244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rPr>
              <a:t>반복 클릭과 사용 피로</a:t>
            </a:r>
            <a:endParaRPr sz="1200" b="1">
              <a:solidFill>
                <a:srgbClr val="e11d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666750" y="5181600"/>
            <a:ext cx="10858500" cy="6286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857250" y="53530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협업 조건 불명확</a:t>
            </a:r>
            <a:endParaRPr sz="12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3524250" y="531495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회의 방식과 지원 조건 정보 부족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8477250" y="53530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e11d48"/>
                </a:solidFill>
                <a:latin typeface="맑은 고딕"/>
                <a:ea typeface="맑은 고딕"/>
                <a:cs typeface="맑은 고딕"/>
              </a:rPr>
              <a:t>캡스톤 참여 위축</a:t>
            </a:r>
            <a:endParaRPr sz="1200" b="1">
              <a:solidFill>
                <a:srgbClr val="e11d4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11239500" y="628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sz="900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61975"/>
            <a:ext cx="4000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81100" y="514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USER JOURNEY</a:t>
            </a:r>
            <a:endParaRPr sz="112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838200"/>
            <a:ext cx="8191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장애 유형마다 다른 불편이지만, 핵심은 ‘예측 가능성’이다.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8580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수강 전 정보, 수강 중 자막, 자료 접근성, 팀 참여 조건이 하나의 여정으로 연결된다.</a:t>
            </a:r>
            <a:endParaRPr sz="1275" b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66750" y="2590800"/>
            <a:ext cx="1504950" cy="14287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38200" y="2781300"/>
            <a:ext cx="428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sz="135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3820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수강 전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38200" y="3524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접근성 태그 필요</a:t>
            </a:r>
            <a:endParaRPr sz="10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2247900" y="3105150"/>
            <a:ext cx="33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8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2476500" y="2590800"/>
            <a:ext cx="1504950" cy="1428750"/>
          </a:xfrm>
          <a:prstGeom prst="rect">
            <a:avLst/>
          </a:prstGeom>
          <a:solidFill>
            <a:srgbClr val="eef6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2647950" y="2781300"/>
            <a:ext cx="428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sz="135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264795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강의 상세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2647950" y="3524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지원 상태 확인</a:t>
            </a:r>
            <a:endParaRPr sz="10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057650" y="3105150"/>
            <a:ext cx="33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8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4286250" y="2590800"/>
            <a:ext cx="1504950" cy="14287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4457700" y="2781300"/>
            <a:ext cx="428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sz="135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445770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강의실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4457700" y="3524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AI 자막 + 검수</a:t>
            </a:r>
            <a:endParaRPr sz="10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5867400" y="3105150"/>
            <a:ext cx="33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8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6096000" y="2590800"/>
            <a:ext cx="1504950" cy="1428750"/>
          </a:xfrm>
          <a:prstGeom prst="rect">
            <a:avLst/>
          </a:prstGeom>
          <a:solidFill>
            <a:srgbClr val="eef6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6267450" y="2781300"/>
            <a:ext cx="428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sz="135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626745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자료 학습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6267450" y="3524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OCR 점검</a:t>
            </a:r>
            <a:endParaRPr sz="10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7677150" y="3105150"/>
            <a:ext cx="33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8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7905750" y="2590800"/>
            <a:ext cx="1504950" cy="14287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8077200" y="2781300"/>
            <a:ext cx="428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sz="135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807720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팀 탐색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8077200" y="3524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협업 조건 표시</a:t>
            </a:r>
            <a:endParaRPr sz="10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9486900" y="3105150"/>
            <a:ext cx="33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80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9715500" y="2590800"/>
            <a:ext cx="1504950" cy="1428750"/>
          </a:xfrm>
          <a:prstGeom prst="rect">
            <a:avLst/>
          </a:prstGeom>
          <a:solidFill>
            <a:srgbClr val="eef6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9886950" y="2781300"/>
            <a:ext cx="4286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sz="135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988695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문제 신고</a:t>
            </a:r>
            <a:endParaRPr sz="15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9886950" y="3524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빠른 개선 요청</a:t>
            </a:r>
            <a:endParaRPr sz="105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"/>
          <p:cNvSpPr>
            <a:spLocks noGrp="1"/>
          </p:cNvSpPr>
          <p:nvPr/>
        </p:nvSpPr>
        <p:spPr>
          <a:xfrm>
            <a:off x="1409700" y="48768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6" name=""/>
          <p:cNvSpPr>
            <a:spLocks noGrp="1"/>
          </p:cNvSpPr>
          <p:nvPr/>
        </p:nvSpPr>
        <p:spPr>
          <a:xfrm>
            <a:off x="1543050" y="49911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시각장애</a:t>
            </a:r>
            <a:endParaRPr sz="10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" name=""/>
          <p:cNvSpPr>
            <a:spLocks noGrp="1"/>
          </p:cNvSpPr>
          <p:nvPr/>
        </p:nvSpPr>
        <p:spPr>
          <a:xfrm>
            <a:off x="1543050" y="52006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자료·라벨</a:t>
            </a:r>
            <a:endParaRPr sz="1050" b="1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"/>
          <p:cNvSpPr>
            <a:spLocks noGrp="1"/>
          </p:cNvSpPr>
          <p:nvPr/>
        </p:nvSpPr>
        <p:spPr>
          <a:xfrm>
            <a:off x="3790950" y="48768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9" name=""/>
          <p:cNvSpPr>
            <a:spLocks noGrp="1"/>
          </p:cNvSpPr>
          <p:nvPr/>
        </p:nvSpPr>
        <p:spPr>
          <a:xfrm>
            <a:off x="3924300" y="49911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청각장애</a:t>
            </a:r>
            <a:endParaRPr sz="10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0" name=""/>
          <p:cNvSpPr>
            <a:spLocks noGrp="1"/>
          </p:cNvSpPr>
          <p:nvPr/>
        </p:nvSpPr>
        <p:spPr>
          <a:xfrm>
            <a:off x="3924300" y="52006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자막 품질</a:t>
            </a:r>
            <a:endParaRPr sz="1050" b="1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"/>
          <p:cNvSpPr>
            <a:spLocks noGrp="1"/>
          </p:cNvSpPr>
          <p:nvPr/>
        </p:nvSpPr>
        <p:spPr>
          <a:xfrm>
            <a:off x="6172200" y="48768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2" name=""/>
          <p:cNvSpPr>
            <a:spLocks noGrp="1"/>
          </p:cNvSpPr>
          <p:nvPr/>
        </p:nvSpPr>
        <p:spPr>
          <a:xfrm>
            <a:off x="6305550" y="49911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저시력/지체</a:t>
            </a:r>
            <a:endParaRPr sz="10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3" name=""/>
          <p:cNvSpPr>
            <a:spLocks noGrp="1"/>
          </p:cNvSpPr>
          <p:nvPr/>
        </p:nvSpPr>
        <p:spPr>
          <a:xfrm>
            <a:off x="6305550" y="52006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버튼 조작</a:t>
            </a:r>
            <a:endParaRPr sz="1050" b="1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4" name=""/>
          <p:cNvSpPr>
            <a:spLocks noGrp="1"/>
          </p:cNvSpPr>
          <p:nvPr/>
        </p:nvSpPr>
        <p:spPr>
          <a:xfrm>
            <a:off x="8553450" y="48768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5" name=""/>
          <p:cNvSpPr>
            <a:spLocks noGrp="1"/>
          </p:cNvSpPr>
          <p:nvPr/>
        </p:nvSpPr>
        <p:spPr>
          <a:xfrm>
            <a:off x="8686800" y="49911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참여 학생</a:t>
            </a:r>
            <a:endParaRPr sz="10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6" name=""/>
          <p:cNvSpPr>
            <a:spLocks noGrp="1"/>
          </p:cNvSpPr>
          <p:nvPr/>
        </p:nvSpPr>
        <p:spPr>
          <a:xfrm>
            <a:off x="8686800" y="52006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팀 조건</a:t>
            </a:r>
            <a:endParaRPr sz="1050" b="1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"/>
          <p:cNvSpPr>
            <a:spLocks noGrp="1"/>
          </p:cNvSpPr>
          <p:nvPr/>
        </p:nvSpPr>
        <p:spPr>
          <a:xfrm>
            <a:off x="11239500" y="628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04</a:t>
            </a:r>
            <a:endParaRPr sz="900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61975"/>
            <a:ext cx="400050" cy="38100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81100" y="514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RESEARCH METHOD</a:t>
            </a:r>
            <a:endParaRPr sz="1125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933450"/>
            <a:ext cx="9144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인터뷰가 없어도, 서비스 흐름과 공개 사례를 분석해 불편 지점을 구조화했다.</a:t>
            </a:r>
            <a:endParaRPr sz="255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762000" y="2476500"/>
            <a:ext cx="3048000" cy="2571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009650" y="2781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플랫폼 구조 분석</a:t>
            </a:r>
            <a:endParaRPr sz="16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1047750" y="340042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1219200" y="333375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강의 탐색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1047750" y="372427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1219200" y="365760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상세 확인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1047750" y="404812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1219200" y="398145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강의실 입장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047750" y="437197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1219200" y="430530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자료 다운로드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4381500" y="2476500"/>
            <a:ext cx="3048000" cy="2571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4629150" y="2781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협업 수요조사</a:t>
            </a:r>
            <a:endParaRPr sz="1650" b="1">
              <a:solidFill>
                <a:srgbClr val="0f76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4667250" y="340042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4838700" y="333375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타학교·타전공 협업 수요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4667250" y="372427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4838700" y="365760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연합형 캡스톤 필요성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4667250" y="404812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4838700" y="398145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실현 가능성 검토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8001000" y="2476500"/>
            <a:ext cx="3048000" cy="2571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8248650" y="2781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접근성 문제 분류</a:t>
            </a:r>
            <a:endParaRPr sz="16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8286750" y="340042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8458200" y="333375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시각 정보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8286750" y="372427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8458200" y="365760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청각 정보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8286750" y="404812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8458200" y="398145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조작 접근성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8286750" y="4371975"/>
            <a:ext cx="66675" cy="66675"/>
          </a:xfrm>
          <a:prstGeom prst="rect">
            <a:avLst/>
          </a:prstGeom>
          <a:solidFill>
            <a:srgbClr val="d4af37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8458200" y="4305300"/>
            <a:ext cx="21621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사전 정보 부족</a:t>
            </a:r>
            <a:endParaRPr sz="127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857250" y="5772150"/>
            <a:ext cx="990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리서치 산출물: 문제 유형 분류 → 사용자 여정 → 핵심 인사이트 → 서비스 개선안 → UX 검증 지표</a:t>
            </a:r>
            <a:endParaRPr sz="150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"/>
          <p:cNvSpPr>
            <a:spLocks noGrp="1"/>
          </p:cNvSpPr>
          <p:nvPr/>
        </p:nvSpPr>
        <p:spPr>
          <a:xfrm>
            <a:off x="11239500" y="628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05</a:t>
            </a:r>
            <a:endParaRPr sz="900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61975"/>
            <a:ext cx="4000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81100" y="514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KEY INSIGHTS</a:t>
            </a:r>
            <a:endParaRPr sz="112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838200"/>
            <a:ext cx="8191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다섯 가지 문제는 다섯 가지 서비스 개선 방향으로 번역된다.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8580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각 개선안은 특정 장애 유형만이 아니라 전체 학습 여정의 접근성을 높이는 방향으로 연결했다.</a:t>
            </a:r>
            <a:endParaRPr sz="1275" b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66750" y="2476500"/>
            <a:ext cx="1885950" cy="21907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57250" y="2743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Insight 1</a:t>
            </a:r>
            <a:endParaRPr sz="975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57250" y="310515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수강 전 정보</a:t>
            </a:r>
            <a:endParaRPr sz="16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57250" y="3714750"/>
            <a:ext cx="4381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857250" y="40005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접근성 태그와 점수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2838450" y="2476500"/>
            <a:ext cx="1885950" cy="2190750"/>
          </a:xfrm>
          <a:prstGeom prst="rect">
            <a:avLst/>
          </a:prstGeom>
          <a:solidFill>
            <a:srgbClr val="eef6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3028950" y="2743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Insight 2</a:t>
            </a:r>
            <a:endParaRPr sz="975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3028950" y="310515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자막 품질</a:t>
            </a:r>
            <a:endParaRPr sz="16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3028950" y="3714750"/>
            <a:ext cx="4381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3028950" y="40005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AI 1차 + 학생 검수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5010150" y="2476500"/>
            <a:ext cx="1885950" cy="21907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5200650" y="2743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Insight 3</a:t>
            </a:r>
            <a:endParaRPr sz="975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5200650" y="310515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자료 접근성</a:t>
            </a:r>
            <a:endParaRPr sz="16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5200650" y="3714750"/>
            <a:ext cx="4381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5200650" y="40005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OCR 점검 + 대체자료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7181850" y="2476500"/>
            <a:ext cx="1885950" cy="2190750"/>
          </a:xfrm>
          <a:prstGeom prst="rect">
            <a:avLst/>
          </a:prstGeom>
          <a:solidFill>
            <a:srgbClr val="eef6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7372350" y="2743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Insight 4</a:t>
            </a:r>
            <a:endParaRPr sz="975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7372350" y="310515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조작 부담</a:t>
            </a:r>
            <a:endParaRPr sz="16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7372350" y="3714750"/>
            <a:ext cx="4381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7372350" y="40005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오터치 감지 확장 UI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9353550" y="2476500"/>
            <a:ext cx="1885950" cy="21907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9544050" y="27432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Insight 5</a:t>
            </a:r>
            <a:endParaRPr sz="975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9544050" y="3105150"/>
            <a:ext cx="142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팀 참여</a:t>
            </a:r>
            <a:endParaRPr sz="16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"/>
          <p:cNvSpPr>
            <a:spLocks noGrp="1"/>
          </p:cNvSpPr>
          <p:nvPr/>
        </p:nvSpPr>
        <p:spPr>
          <a:xfrm>
            <a:off x="9544050" y="3714750"/>
            <a:ext cx="4381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0" name=""/>
          <p:cNvSpPr>
            <a:spLocks noGrp="1"/>
          </p:cNvSpPr>
          <p:nvPr/>
        </p:nvSpPr>
        <p:spPr>
          <a:xfrm>
            <a:off x="9544050" y="4000500"/>
            <a:ext cx="1428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협업 조건 표시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876300" y="5476875"/>
            <a:ext cx="9144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핵심 판단: 접근성은 별도 부가 기능이 아니라, 강의 선택과 협업 참여를 가능하게 만드는 기본 정보 구조다.</a:t>
            </a:r>
            <a:endParaRPr sz="16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11239500" y="628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06</a:t>
            </a:r>
            <a:endParaRPr sz="900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61975"/>
            <a:ext cx="4000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81100" y="514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SERVICE MODEL</a:t>
            </a:r>
            <a:endParaRPr sz="112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838200"/>
            <a:ext cx="8191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AI 자동화와 사람 기반 검수를 결합해 지속 가능한 접근성 운영 구조를 만든다.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8580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기술이 1차 처리하고, 사랑나누기 활동이 품질을 보완하는 방식으로 운영 부담과 품질 문제를 함께 줄인다.</a:t>
            </a:r>
            <a:endParaRPr sz="1275" b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685800" y="2781300"/>
            <a:ext cx="1714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76300" y="30861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강의 등록</a:t>
            </a:r>
            <a:endParaRPr sz="1575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876300" y="3543300"/>
            <a:ext cx="123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영상·PDF 업로드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2476500" y="3352800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2876550" y="2781300"/>
            <a:ext cx="1714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3067050" y="30861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AI 처리</a:t>
            </a:r>
            <a:endParaRPr sz="1575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3067050" y="3543300"/>
            <a:ext cx="123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자막 생성·OCR 점검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4667250" y="3352800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5067300" y="2781300"/>
            <a:ext cx="1714500" cy="1524000"/>
          </a:xfrm>
          <a:prstGeom prst="rect">
            <a:avLst/>
          </a:prstGeom>
          <a:solidFill>
            <a:srgbClr val="eafbf5"/>
          </a:solidFill>
          <a:ln w="9525">
            <a:solidFill>
              <a:srgbClr val="0f766e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5257800" y="30861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학생 검수</a:t>
            </a:r>
            <a:endParaRPr sz="1575" b="1">
              <a:solidFill>
                <a:srgbClr val="0f76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5257800" y="3543300"/>
            <a:ext cx="123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전문용어·화자 구분 보정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6858000" y="3352800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7258050" y="2781300"/>
            <a:ext cx="1714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7448550" y="30861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접근성 태그</a:t>
            </a:r>
            <a:endParaRPr sz="1575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7448550" y="3543300"/>
            <a:ext cx="123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검수 완료 정보 반영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9048750" y="3352800"/>
            <a:ext cx="361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→</a:t>
            </a:r>
            <a:endParaRPr sz="1950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9448800" y="2781300"/>
            <a:ext cx="17145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9639300" y="30861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수강/협업</a:t>
            </a:r>
            <a:endParaRPr sz="1575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9639300" y="3543300"/>
            <a:ext cx="1238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예측 가능한 참여</a:t>
            </a:r>
            <a:endParaRPr sz="1125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1047750" y="5143500"/>
            <a:ext cx="9334500" cy="685800"/>
          </a:xfrm>
          <a:prstGeom prst="rect">
            <a:avLst/>
          </a:prstGeom>
          <a:solidFill>
            <a:srgbClr val="0a2540"/>
          </a:solidFill>
          <a:ln w="9525">
            <a:solidFill>
              <a:srgbClr val="0a2540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1333500" y="53149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d4af37"/>
                </a:solidFill>
                <a:latin typeface="맑은 고딕"/>
                <a:ea typeface="맑은 고딕"/>
                <a:cs typeface="맑은 고딕"/>
              </a:rPr>
              <a:t>화면설계 근거</a:t>
            </a:r>
            <a:endParaRPr sz="1200" b="1">
              <a:solidFill>
                <a:srgbClr val="d4af3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"/>
          <p:cNvSpPr>
            <a:spLocks noGrp="1"/>
          </p:cNvSpPr>
          <p:nvPr/>
        </p:nvSpPr>
        <p:spPr>
          <a:xfrm>
            <a:off x="2857500" y="5295900"/>
            <a:ext cx="6858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강의 목록 태그 → 강의 상세 지원 상태 → 강의실 AI 자막 → 사랑나누기 검수 반영 → 확장 버튼 UI</a:t>
            </a:r>
            <a:endParaRPr sz="15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"/>
          <p:cNvSpPr>
            <a:spLocks noGrp="1"/>
          </p:cNvSpPr>
          <p:nvPr/>
        </p:nvSpPr>
        <p:spPr>
          <a:xfrm>
            <a:off x="11239500" y="628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07</a:t>
            </a:r>
            <a:endParaRPr sz="900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" name=""/>
          <p:cNvSpPr>
            <a:spLocks noGrp="1"/>
          </p:cNvSpPr>
          <p:nvPr/>
        </p:nvSpPr>
        <p:spPr>
          <a:xfrm>
            <a:off x="666750" y="561975"/>
            <a:ext cx="400050" cy="38100"/>
          </a:xfrm>
          <a:prstGeom prst="rect">
            <a:avLst/>
          </a:prstGeom>
          <a:solidFill>
            <a:srgbClr val="004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1181100" y="514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UX VALIDATION</a:t>
            </a:r>
            <a:endParaRPr sz="112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66750" y="838200"/>
            <a:ext cx="8191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개선 효과는 탐색 시간, 자막 오류, 조작 성공률, 팀 참여율로 검증한다.</a:t>
            </a:r>
            <a:endParaRPr sz="255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68580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리서치 기반 제안이 실제 서비스 성과로 이어지는지 측정 가능한 지표를 설정했다.</a:t>
            </a:r>
            <a:endParaRPr sz="1275" b="0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857250" y="2381250"/>
            <a:ext cx="1028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1143000" y="252412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강의 탐색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3143250" y="252412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접근성 정보 확인 시간</a:t>
            </a:r>
            <a:endParaRPr sz="120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8953500" y="25241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감소</a:t>
            </a:r>
            <a:endParaRPr sz="1275" b="1">
              <a:solidFill>
                <a:srgbClr val="0f76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857250" y="3048000"/>
            <a:ext cx="10287000" cy="5143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1143000" y="31908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자막 품질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3143250" y="31908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오류 신고 건수 / 검수 완료율</a:t>
            </a:r>
            <a:endParaRPr sz="120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8953500" y="31908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오류 감소</a:t>
            </a:r>
            <a:endParaRPr sz="1275" b="1">
              <a:solidFill>
                <a:srgbClr val="0f76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857250" y="3714750"/>
            <a:ext cx="1028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1143000" y="385762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조작 편의성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3143250" y="385762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버튼 클릭 성공률 / 오터치 횟수</a:t>
            </a:r>
            <a:endParaRPr sz="120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8953500" y="38576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성공률 증가</a:t>
            </a:r>
            <a:endParaRPr sz="1275" b="1">
              <a:solidFill>
                <a:srgbClr val="0f76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857250" y="4381500"/>
            <a:ext cx="10287000" cy="5143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1143000" y="45243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4b87"/>
                </a:solidFill>
                <a:latin typeface="맑은 고딕"/>
                <a:ea typeface="맑은 고딕"/>
                <a:cs typeface="맑은 고딕"/>
              </a:rPr>
              <a:t>팀 참여</a:t>
            </a:r>
            <a:endParaRPr sz="1275" b="1">
              <a:solidFill>
                <a:srgbClr val="004b8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3143250" y="4524375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접근성 정보 확인 후 팀 지원 비율</a:t>
            </a:r>
            <a:endParaRPr sz="1200" b="0">
              <a:solidFill>
                <a:srgbClr val="11182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8953500" y="45243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증가</a:t>
            </a:r>
            <a:endParaRPr sz="1275" b="1">
              <a:solidFill>
                <a:srgbClr val="0f766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857250" y="5429250"/>
            <a:ext cx="10287000" cy="609600"/>
          </a:xfrm>
          <a:prstGeom prst="rect">
            <a:avLst/>
          </a:prstGeom>
          <a:solidFill>
            <a:srgbClr val="fff8e1"/>
          </a:solidFill>
          <a:ln w="9525">
            <a:solidFill>
              <a:srgbClr val="f4d774"/>
            </a:solidFill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1143000" y="56197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최종 제안</a:t>
            </a:r>
            <a:endParaRPr sz="12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2476500" y="5581650"/>
            <a:ext cx="666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a2540"/>
                </a:solidFill>
                <a:latin typeface="맑은 고딕"/>
                <a:ea typeface="맑은 고딕"/>
                <a:cs typeface="맑은 고딕"/>
              </a:rPr>
              <a:t>과제를 위한 캡스톤이 아니라, 미래를 위한 캡스톤이다.</a:t>
            </a:r>
            <a:endParaRPr sz="1800" b="1">
              <a:solidFill>
                <a:srgbClr val="0a254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11239500" y="62865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08</a:t>
            </a:r>
            <a:endParaRPr sz="900" b="1">
              <a:solidFill>
                <a:srgbClr val="64748b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578</ep:Words>
  <ep:PresentationFormat>Converted Presentation</ep:PresentationFormat>
  <ep:Paragraphs>157</ep:Paragraphs>
  <ep:Slides>8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2026-07-14T14:25:58.733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